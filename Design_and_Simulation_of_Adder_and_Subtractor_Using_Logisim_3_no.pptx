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2-10.svg" ContentType="image/svg+xml"/>
  <Override PartName="/ppt/media/image-12-4.svg" ContentType="image/svg+xml"/>
  <Override PartName="/ppt/media/image-12-6.svg" ContentType="image/svg+xml"/>
  <Override PartName="/ppt/media/image-12-8.svg" ContentType="image/svg+xml"/>
  <Override PartName="/ppt/media/image-7-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embeddedFontLst>
    <p:embeddedFont>
      <p:font typeface="Geist Bold"/>
      <p:regular r:id="rId201314"/>
    </p:embeddedFont>
    <p:embeddedFont>
      <p:font typeface="Geist"/>
      <p:regular r:id="rId2013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1620">
              <a:alpha val="95000"/>
            </a:srgbClr>
          </a:solidFill>
          <a:ln/>
        </p:spPr>
        <p:txBody>
          <a:bodyPr/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2.png"/><Relationship Id="rId7" Type="http://schemas.openxmlformats.org/officeDocument/2006/relationships/image" Target="../media/image-7-3.svg"/><Relationship Id="rId8" Type="http://schemas.openxmlformats.org/officeDocument/2006/relationships/image" Target="../media/image-7-2.png"/><Relationship Id="rId9" Type="http://schemas.openxmlformats.org/officeDocument/2006/relationships/image" Target="../media/image-7-3.sv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svg"/><Relationship Id="rId5" Type="http://schemas.openxmlformats.org/officeDocument/2006/relationships/image" Target="../media/image-12-5.png"/><Relationship Id="rId6" Type="http://schemas.openxmlformats.org/officeDocument/2006/relationships/image" Target="../media/image-12-6.svg"/><Relationship Id="rId7" Type="http://schemas.openxmlformats.org/officeDocument/2006/relationships/image" Target="../media/image-12-7.png"/><Relationship Id="rId8" Type="http://schemas.openxmlformats.org/officeDocument/2006/relationships/image" Target="../media/image-12-8.svg"/><Relationship Id="rId9" Type="http://schemas.openxmlformats.org/officeDocument/2006/relationships/image" Target="../media/image-12-9.png"/><Relationship Id="rId10" Type="http://schemas.openxmlformats.org/officeDocument/2006/relationships/image" Target="../media/image-12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1161256"/>
            <a:ext cx="6296860" cy="18427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Design and Simulation of Adder and Subtractor Using Logisim</a:t>
            </a:r>
            <a:endParaRPr lang="en-US" sz="3700" dirty="0"/>
          </a:p>
        </p:txBody>
      </p:sp>
      <p:sp>
        <p:nvSpPr>
          <p:cNvPr id="5" name="Text 1"/>
          <p:cNvSpPr/>
          <p:nvPr/>
        </p:nvSpPr>
        <p:spPr>
          <a:xfrm>
            <a:off x="661475" y="3287514"/>
            <a:ext cx="6296860" cy="7039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8000"/>
              </a:lnSpc>
              <a:spcAft>
                <a:spcPts val="1650"/>
              </a:spcAft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Digital Logic Design – Circuit Construction and Simulation</a:t>
            </a:r>
            <a:endParaRPr lang="en-US" sz="14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PROJECT MEMBERS 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661475" y="4204097"/>
            <a:ext cx="6296860" cy="14926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SAHASRA DHANALAKOTI — 2620030411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RITHVIK REDDY — 2620030483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RITHWIK PATRUDU — 2620030484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SESHAM BAVESH KURN — 2620030486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SRAVANI REDDY — 2620030488</a:t>
            </a:r>
            <a:endParaRPr lang="en-US" sz="14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35" y="1080393"/>
            <a:ext cx="3522773" cy="4697214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5233360" y="551259"/>
            <a:ext cx="6296860" cy="1094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300" b="1" spc="-6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Introduction to Binary Arithmetic</a:t>
            </a:r>
            <a:endParaRPr lang="en-US" sz="3300" dirty="0"/>
          </a:p>
        </p:txBody>
      </p:sp>
      <p:sp>
        <p:nvSpPr>
          <p:cNvPr id="5" name="Shape 1"/>
          <p:cNvSpPr/>
          <p:nvPr/>
        </p:nvSpPr>
        <p:spPr>
          <a:xfrm>
            <a:off x="5233360" y="1870273"/>
            <a:ext cx="6296860" cy="944959"/>
          </a:xfrm>
          <a:prstGeom prst="roundRect">
            <a:avLst>
              <a:gd name="adj" fmla="val 748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6" name="Text 2"/>
          <p:cNvSpPr/>
          <p:nvPr/>
        </p:nvSpPr>
        <p:spPr>
          <a:xfrm>
            <a:off x="5420681" y="2057598"/>
            <a:ext cx="592221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Binary Arithmetic</a:t>
            </a:r>
            <a:endParaRPr lang="en-US" sz="1650" dirty="0"/>
          </a:p>
        </p:txBody>
      </p:sp>
      <p:sp>
        <p:nvSpPr>
          <p:cNvPr id="7" name="Text 3"/>
          <p:cNvSpPr/>
          <p:nvPr/>
        </p:nvSpPr>
        <p:spPr>
          <a:xfrm>
            <a:off x="5420681" y="2421037"/>
            <a:ext cx="5922219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Foundation of all digital systems and computations</a:t>
            </a:r>
            <a:endParaRPr lang="en-US" sz="1300" dirty="0"/>
          </a:p>
        </p:txBody>
      </p:sp>
      <p:sp>
        <p:nvSpPr>
          <p:cNvPr id="8" name="Shape 4"/>
          <p:cNvSpPr/>
          <p:nvPr/>
        </p:nvSpPr>
        <p:spPr>
          <a:xfrm>
            <a:off x="5233360" y="2965152"/>
            <a:ext cx="6296860" cy="944959"/>
          </a:xfrm>
          <a:prstGeom prst="roundRect">
            <a:avLst>
              <a:gd name="adj" fmla="val 748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5420681" y="3152477"/>
            <a:ext cx="592221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Adders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5420681" y="3515916"/>
            <a:ext cx="5922219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Combine two binary numbers to produce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Sum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Carry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outputs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5233360" y="4060031"/>
            <a:ext cx="6296860" cy="1151830"/>
          </a:xfrm>
          <a:prstGeom prst="roundRect">
            <a:avLst>
              <a:gd name="adj" fmla="val 6138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12" name="Text 8"/>
          <p:cNvSpPr/>
          <p:nvPr/>
        </p:nvSpPr>
        <p:spPr>
          <a:xfrm>
            <a:off x="5420681" y="4247356"/>
            <a:ext cx="592221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Subtractors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5420681" y="4610795"/>
            <a:ext cx="5922219" cy="4137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Find the difference between binary numbers using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Difference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and </a:t>
            </a:r>
            <a:pPr algn="l" indent="0" marL="0">
              <a:lnSpc>
                <a:spcPct val="102000"/>
              </a:lnSpc>
              <a:buNone/>
            </a:pPr>
            <a:r>
              <a:rPr lang="en-US" sz="13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Borrow</a:t>
            </a:r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outputs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233360" y="5361781"/>
            <a:ext cx="6296860" cy="944959"/>
          </a:xfrm>
          <a:prstGeom prst="roundRect">
            <a:avLst>
              <a:gd name="adj" fmla="val 7482"/>
            </a:avLst>
          </a:prstGeom>
          <a:solidFill>
            <a:srgbClr val="101620"/>
          </a:solidFill>
          <a:ln w="19050">
            <a:solidFill>
              <a:srgbClr val="002A80"/>
            </a:solidFill>
            <a:prstDash val="solid"/>
          </a:ln>
        </p:spPr>
        <p:txBody>
          <a:bodyPr/>
          <a:p/>
        </p:txBody>
      </p:sp>
      <p:sp>
        <p:nvSpPr>
          <p:cNvPr id="15" name="Text 11"/>
          <p:cNvSpPr/>
          <p:nvPr/>
        </p:nvSpPr>
        <p:spPr>
          <a:xfrm>
            <a:off x="5420681" y="5549106"/>
            <a:ext cx="5922219" cy="2735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650" b="1" spc="-33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Logisim</a:t>
            </a:r>
            <a:endParaRPr lang="en-US" sz="1650" dirty="0"/>
          </a:p>
        </p:txBody>
      </p:sp>
      <p:sp>
        <p:nvSpPr>
          <p:cNvPr id="16" name="Text 12"/>
          <p:cNvSpPr/>
          <p:nvPr/>
        </p:nvSpPr>
        <p:spPr>
          <a:xfrm>
            <a:off x="5420681" y="5912545"/>
            <a:ext cx="5922219" cy="2068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2000"/>
              </a:lnSpc>
              <a:buNone/>
            </a:pPr>
            <a:r>
              <a:rPr lang="en-US" sz="13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Powerful simulation tool for designing, testing, and verifying digital circuits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48705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Half Adder Circuit</a:t>
            </a:r>
            <a:endParaRPr lang="en-US" sz="37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8216" y="2743696"/>
            <a:ext cx="3210638" cy="2268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2635448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Logic Gates</a:t>
            </a:r>
            <a:endParaRPr lang="en-US" sz="1850" dirty="0"/>
          </a:p>
        </p:txBody>
      </p:sp>
      <p:sp>
        <p:nvSpPr>
          <p:cNvPr id="5" name="Text 2"/>
          <p:cNvSpPr/>
          <p:nvPr/>
        </p:nvSpPr>
        <p:spPr>
          <a:xfrm>
            <a:off x="4633201" y="3131542"/>
            <a:ext cx="6903269" cy="5574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gate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produces the Sum output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AND gate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→ produces the Carry output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4633201" y="3877965"/>
            <a:ext cx="6903269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 &amp; Outputs</a:t>
            </a:r>
            <a:endParaRPr lang="en-US" sz="1850" dirty="0"/>
          </a:p>
        </p:txBody>
      </p:sp>
      <p:sp>
        <p:nvSpPr>
          <p:cNvPr id="7" name="Text 4"/>
          <p:cNvSpPr/>
          <p:nvPr/>
        </p:nvSpPr>
        <p:spPr>
          <a:xfrm>
            <a:off x="4633201" y="4374059"/>
            <a:ext cx="6903269" cy="8691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Inputs: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A and B (single-bit binary values)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Sum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⊕ B</a:t>
            </a:r>
            <a:endParaRPr lang="en-US" sz="1450" dirty="0"/>
          </a:p>
          <a:p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Carry</a:t>
            </a:r>
            <a:pPr algn="l" marL="294640" indent="-294640">
              <a:lnSpc>
                <a:spcPct val="108000"/>
              </a:lnSpc>
              <a:buSzPct val="100000"/>
              <a:buChar char="•"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· B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411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Half Adder Truth Table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41909"/>
            <a:ext cx="637980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Results: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00201"/>
          <a:ext cx="9143771" cy="914400"/>
        </p:xfrm>
        <a:graphic>
          <a:graphicData uri="http://schemas.openxmlformats.org/drawingml/2006/table">
            <a:tbl>
              <a:tblPr/>
              <a:tblGrid>
                <a:gridCol w="1442555"/>
                <a:gridCol w="1442555"/>
                <a:gridCol w="1442555"/>
                <a:gridCol w="1442555"/>
              </a:tblGrid>
              <a:tr h="734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Sum (A ⊕ B)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FFFFFF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Carry (A · B)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CC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3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322491"/>
            <a:ext cx="57702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insight: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Carry output is 1 only when </a:t>
            </a:r>
            <a:pPr algn="l" indent="0" marL="0">
              <a:lnSpc>
                <a:spcPct val="108000"/>
              </a:lnSpc>
              <a:buNone/>
            </a:pPr>
            <a:r>
              <a:rPr lang="en-US" sz="1450" i="1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both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inputs are 1 — a pure AND operation.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202" y="2631480"/>
            <a:ext cx="3614945" cy="249267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7113"/>
            <a:ext cx="10868745" cy="422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550" b="1" spc="-5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 Adder Circuit</a:t>
            </a:r>
            <a:endParaRPr lang="en-US" sz="25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57982"/>
            <a:ext cx="3947220" cy="23553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3703141"/>
            <a:ext cx="695377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661475" y="4003576"/>
            <a:ext cx="7563355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Half Adders cascaded with one OR gate to handle the carry-in signal.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661475" y="4235351"/>
            <a:ext cx="695377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61475" y="4535785"/>
            <a:ext cx="6953771" cy="48994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</a:t>
            </a:r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first binary input</a:t>
            </a:r>
            <a:endParaRPr lang="en-US" sz="1000" dirty="0"/>
          </a:p>
          <a:p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</a:t>
            </a:r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second binary input</a:t>
            </a:r>
            <a:endParaRPr lang="en-US" sz="1000" dirty="0"/>
          </a:p>
          <a:p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Cin</a:t>
            </a:r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carry-in from previous stage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661475" y="5115024"/>
            <a:ext cx="6953771" cy="211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b="1" spc="-2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Boolean Expressions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661475" y="5415459"/>
            <a:ext cx="6953771" cy="31621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Sum</a:t>
            </a:r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⊕ B ⊕ Cin</a:t>
            </a:r>
            <a:endParaRPr lang="en-US" sz="1000" dirty="0"/>
          </a:p>
          <a:p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Cout</a:t>
            </a:r>
            <a:pPr algn="l" marL="203200" indent="-203200">
              <a:lnSpc>
                <a:spcPct val="91000"/>
              </a:lnSpc>
              <a:buSzPct val="100000"/>
              <a:buChar char="•"/>
            </a:pPr>
            <a:r>
              <a:rPr lang="en-US" sz="10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AB + Cin(A ⊕ B)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61475" y="5832177"/>
            <a:ext cx="6953771" cy="368102"/>
          </a:xfrm>
          <a:prstGeom prst="roundRect">
            <a:avLst>
              <a:gd name="adj" fmla="val 14827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349" y="5954514"/>
            <a:ext cx="162417" cy="12987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083640" y="5944989"/>
            <a:ext cx="7011316" cy="1424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1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multi-bit addition through cascading multiple Full Adder stages.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78941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spc="-4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OF FULL ADDER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10555"/>
            <a:ext cx="10536272" cy="516850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1755"/>
            <a:ext cx="10868745" cy="7947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800" b="1" spc="-96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Half Subtractor Circuit</a:t>
            </a:r>
            <a:endParaRPr lang="en-US" sz="48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595636"/>
            <a:ext cx="4873106" cy="1904901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1475" y="3687366"/>
            <a:ext cx="5351329" cy="1226344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933923" y="3883620"/>
            <a:ext cx="488263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Logic Gates Used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933923" y="4271169"/>
            <a:ext cx="488263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XOR gate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computes the Difference output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AND + NOT gate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computes the Borrow output</a:t>
            </a:r>
            <a:endParaRPr lang="en-US" sz="13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178892" y="3687366"/>
            <a:ext cx="5351329" cy="122634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451339" y="3883620"/>
            <a:ext cx="488263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</a:t>
            </a:r>
            <a:endParaRPr lang="en-US" sz="1700" dirty="0"/>
          </a:p>
        </p:txBody>
      </p:sp>
      <p:sp>
        <p:nvSpPr>
          <p:cNvPr id="9" name="Text 4"/>
          <p:cNvSpPr/>
          <p:nvPr/>
        </p:nvSpPr>
        <p:spPr>
          <a:xfrm>
            <a:off x="6451339" y="4271169"/>
            <a:ext cx="488263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Minuend (the number being subtracted from)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Subtrahend (the number being subtracted)</a:t>
            </a:r>
            <a:endParaRPr lang="en-US" sz="13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1475" y="5079802"/>
            <a:ext cx="5351329" cy="1226344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33923" y="5276056"/>
            <a:ext cx="488263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Outputs</a:t>
            </a:r>
            <a:endParaRPr lang="en-US" sz="1700" dirty="0"/>
          </a:p>
        </p:txBody>
      </p:sp>
      <p:sp>
        <p:nvSpPr>
          <p:cNvPr id="12" name="Text 6"/>
          <p:cNvSpPr/>
          <p:nvPr/>
        </p:nvSpPr>
        <p:spPr>
          <a:xfrm>
            <a:off x="933923" y="5663605"/>
            <a:ext cx="488263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Difference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⊕ B</a:t>
            </a:r>
            <a:endParaRPr lang="en-US" sz="135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Borrow</a:t>
            </a:r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A' · B</a:t>
            </a:r>
            <a:endParaRPr lang="en-US" sz="1350" dirty="0"/>
          </a:p>
        </p:txBody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78892" y="5079802"/>
            <a:ext cx="5351329" cy="1226344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6451339" y="5276056"/>
            <a:ext cx="4882631" cy="28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00" b="1" spc="-35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Limitation</a:t>
            </a:r>
            <a:endParaRPr lang="en-US" sz="1700" dirty="0"/>
          </a:p>
        </p:txBody>
      </p:sp>
      <p:sp>
        <p:nvSpPr>
          <p:cNvPr id="15" name="Text 8"/>
          <p:cNvSpPr/>
          <p:nvPr/>
        </p:nvSpPr>
        <p:spPr>
          <a:xfrm>
            <a:off x="6451339" y="5663605"/>
            <a:ext cx="4882631" cy="4462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Cannot handle borrow-in from a previous subtractor stage — restricted to single-bit subtraction.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74117"/>
            <a:ext cx="10868745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Half Subtractor Truth Table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661475" y="1941909"/>
            <a:ext cx="6379804" cy="245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Results: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400201"/>
          <a:ext cx="9143771" cy="914400"/>
        </p:xfrm>
        <a:graphic>
          <a:graphicData uri="http://schemas.openxmlformats.org/drawingml/2006/table">
            <a:tbl>
              <a:tblPr/>
              <a:tblGrid>
                <a:gridCol w="1442555"/>
                <a:gridCol w="1442555"/>
                <a:gridCol w="1442555"/>
                <a:gridCol w="1442555"/>
              </a:tblGrid>
              <a:tr h="73400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A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Difference (A ⊕ B)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272525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Borrow (A' · B)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6B35"/>
                    </a:solidFill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91517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834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1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EBEDF0"/>
                          </a:solidFill>
                          <a:latin typeface="Geist" pitchFamily="34" charset="0"/>
                          <a:ea typeface="Geist" pitchFamily="34" charset="-122"/>
                          <a:cs typeface="Geist" pitchFamily="34" charset="-120"/>
                        </a:rPr>
                        <a:t>0</a:t>
                      </a:r>
                      <a:endParaRPr lang="en-US" sz="1450" dirty="0">
                        <a:latin typeface="Geist" charset="0"/>
                        <a:ea typeface="Geist" charset="0"/>
                        <a:cs typeface="Geist" charset="0"/>
                      </a:endParaRPr>
                    </a:p>
                  </a:txBody>
                  <a:tcPr marL="189018" marR="189018" marT="6350" marB="6350" anchor="ctr">
                    <a:lnL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2A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61475" y="5322491"/>
            <a:ext cx="5770220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Key insight: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Borrow occurs when subtracting a larger bit (1) from a smaller bit (0) — i.e., 0 − 1 requires borrowing.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99202" y="3071118"/>
            <a:ext cx="4637269" cy="1613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1437"/>
            <a:ext cx="10868745" cy="5855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500" b="1" spc="-71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Full Subtractor Circuit</a:t>
            </a:r>
            <a:endParaRPr lang="en-US" sz="35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229769"/>
            <a:ext cx="3518308" cy="124142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25661" y="1556246"/>
            <a:ext cx="6910810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Components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4625661" y="2020689"/>
            <a:ext cx="6910810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Two Half Subtractors combined with additional logic to handle the borrow-in signal from a prior stage.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4625661" y="2649736"/>
            <a:ext cx="6910810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625661" y="3114179"/>
            <a:ext cx="6910810" cy="806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Minuend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Subtrahend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Bin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Borrow-in from previous stage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4625661" y="4091980"/>
            <a:ext cx="6910810" cy="2927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750" b="1" spc="-35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Boolean Expressions</a:t>
            </a:r>
            <a:endParaRPr lang="en-US" sz="1750" dirty="0"/>
          </a:p>
        </p:txBody>
      </p:sp>
      <p:sp>
        <p:nvSpPr>
          <p:cNvPr id="9" name="Text 6"/>
          <p:cNvSpPr/>
          <p:nvPr/>
        </p:nvSpPr>
        <p:spPr>
          <a:xfrm>
            <a:off x="4625661" y="4556423"/>
            <a:ext cx="6910810" cy="5174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Difference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 ⊕ B ⊕ Bin</a:t>
            </a:r>
            <a:endParaRPr lang="en-US" sz="1400" dirty="0"/>
          </a:p>
          <a:p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Bout</a:t>
            </a:r>
            <a:pPr algn="l" marL="284480" indent="-284480">
              <a:lnSpc>
                <a:spcPct val="106000"/>
              </a:lnSpc>
              <a:buSzPct val="100000"/>
              <a:buChar char="•"/>
            </a:pPr>
            <a:r>
              <a:rPr lang="en-US" sz="140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= A'B + Bin(A' ⊕ B)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4625661" y="5267027"/>
            <a:ext cx="6910810" cy="856258"/>
          </a:xfrm>
          <a:prstGeom prst="roundRect">
            <a:avLst>
              <a:gd name="adj" fmla="val 8837"/>
            </a:avLst>
          </a:prstGeom>
          <a:solidFill>
            <a:srgbClr val="002A80"/>
          </a:solidFill>
          <a:ln/>
        </p:spPr>
        <p:txBody>
          <a:bodyPr/>
          <a:p/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738" y="5503763"/>
            <a:ext cx="225122" cy="1800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210938" y="5466457"/>
            <a:ext cx="6145456" cy="457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Enables multi-bit subtraction through cascading — the backbone of ALU subtract operations.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49374"/>
            <a:ext cx="10868745" cy="3839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300" b="1" spc="-47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TRUTH TABLE OF FULL SUBTRACTOR</a:t>
            </a:r>
            <a:endParaRPr lang="en-US" sz="23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080988"/>
            <a:ext cx="10558397" cy="522763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52252"/>
            <a:ext cx="10868745" cy="5183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100" b="1" spc="-63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Logisim Simulation &amp; Testing</a:t>
            </a:r>
            <a:endParaRPr lang="en-US" sz="3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2013446"/>
            <a:ext cx="3551049" cy="355113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08000" y="1423690"/>
            <a:ext cx="31888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25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01</a:t>
            </a:r>
            <a:endParaRPr lang="en-US" sz="1250" dirty="0"/>
          </a:p>
        </p:txBody>
      </p:sp>
      <p:sp>
        <p:nvSpPr>
          <p:cNvPr id="5" name="Shape 2"/>
          <p:cNvSpPr/>
          <p:nvPr/>
        </p:nvSpPr>
        <p:spPr>
          <a:xfrm>
            <a:off x="4608000" y="1683544"/>
            <a:ext cx="6928470" cy="1905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4608000" y="1801316"/>
            <a:ext cx="692847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Circuit Construction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4608000" y="2194917"/>
            <a:ext cx="69284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Drag-and-drop gates onto the canvas and connect inputs/outputs with wires in Logisim.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608000" y="2640013"/>
            <a:ext cx="31888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25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02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608000" y="2883892"/>
            <a:ext cx="6928470" cy="1905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4608000" y="3017639"/>
            <a:ext cx="692847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Input Control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4608000" y="3411240"/>
            <a:ext cx="69284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Toggle switches to set values for A, B, and carry/borrow-in signals interactively.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608000" y="3856335"/>
            <a:ext cx="31888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25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03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08000" y="4084340"/>
            <a:ext cx="6928470" cy="1905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4" name="Text 11"/>
          <p:cNvSpPr/>
          <p:nvPr/>
        </p:nvSpPr>
        <p:spPr>
          <a:xfrm>
            <a:off x="4608000" y="4233962"/>
            <a:ext cx="692847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Output Monitoring</a:t>
            </a:r>
            <a:endParaRPr lang="en-US" sz="1550" dirty="0"/>
          </a:p>
        </p:txBody>
      </p:sp>
      <p:sp>
        <p:nvSpPr>
          <p:cNvPr id="15" name="Text 12"/>
          <p:cNvSpPr/>
          <p:nvPr/>
        </p:nvSpPr>
        <p:spPr>
          <a:xfrm>
            <a:off x="4608000" y="4627563"/>
            <a:ext cx="69284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LED indicators display live Sum/Carry or Difference/Borrow outputs in real time.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4608000" y="5072658"/>
            <a:ext cx="318881" cy="2072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spc="-25" kern="0" dirty="0">
                <a:solidFill>
                  <a:srgbClr val="EBEDF0"/>
                </a:solidFill>
                <a:latin typeface="Geist Light" pitchFamily="34" charset="0"/>
                <a:ea typeface="Geist Light" pitchFamily="34" charset="-122"/>
                <a:cs typeface="Geist Light" pitchFamily="34" charset="-120"/>
              </a:rPr>
              <a:t>04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4608000" y="5284688"/>
            <a:ext cx="6928470" cy="19050"/>
          </a:xfrm>
          <a:prstGeom prst="rect">
            <a:avLst/>
          </a:prstGeom>
          <a:solidFill>
            <a:srgbClr val="487CFF"/>
          </a:solidFill>
          <a:ln/>
        </p:spPr>
        <p:txBody>
          <a:bodyPr/>
          <a:p/>
        </p:txBody>
      </p:sp>
      <p:sp>
        <p:nvSpPr>
          <p:cNvPr id="18" name="Text 15"/>
          <p:cNvSpPr/>
          <p:nvPr/>
        </p:nvSpPr>
        <p:spPr>
          <a:xfrm>
            <a:off x="4608000" y="5450284"/>
            <a:ext cx="6928470" cy="2590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550" b="1" spc="-31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Verification</a:t>
            </a:r>
            <a:endParaRPr lang="en-US" sz="1550" dirty="0"/>
          </a:p>
        </p:txBody>
      </p:sp>
      <p:sp>
        <p:nvSpPr>
          <p:cNvPr id="19" name="Text 16"/>
          <p:cNvSpPr/>
          <p:nvPr/>
        </p:nvSpPr>
        <p:spPr>
          <a:xfrm>
            <a:off x="4608000" y="5843885"/>
            <a:ext cx="6928470" cy="190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Compare all simulation results against expected truth table values to confirm correctness.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1215" y="0"/>
            <a:ext cx="4800480" cy="6858000"/>
          </a:xfrm>
          <a:custGeom>
            <a:avLst/>
            <a:gdLst/>
            <a:ahLst/>
            <a:cxnLst/>
            <a:rect l="0" t="0" r="100000" b="100000"/>
            <a:pathLst>
              <a:path w="100000" h="10000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90839" y="1091406"/>
            <a:ext cx="3506303" cy="467518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661475" y="589459"/>
            <a:ext cx="6296860" cy="6142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3700" b="1" spc="-74" kern="0" dirty="0">
                <a:solidFill>
                  <a:srgbClr val="F2F5FA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Conclusion &amp; Applications</a:t>
            </a:r>
            <a:endParaRPr lang="en-US" sz="3700" dirty="0"/>
          </a:p>
        </p:txBody>
      </p:sp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475" y="1487190"/>
            <a:ext cx="472468" cy="472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1370177" y="1487190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Adders in Practice</a:t>
            </a:r>
            <a:endParaRPr lang="en-US" sz="1850" dirty="0"/>
          </a:p>
        </p:txBody>
      </p:sp>
      <p:sp>
        <p:nvSpPr>
          <p:cNvPr id="7" name="Text 2"/>
          <p:cNvSpPr/>
          <p:nvPr/>
        </p:nvSpPr>
        <p:spPr>
          <a:xfrm>
            <a:off x="1370177" y="1907679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Used in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ALUs, calculators, and processors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perform all arithmetic and address computation operations.</a:t>
            </a:r>
            <a:endParaRPr lang="en-US" sz="145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1475" y="2777034"/>
            <a:ext cx="472468" cy="472480"/>
          </a:xfrm>
          <a:prstGeom prst="rect">
            <a:avLst/>
          </a:prstGeom>
        </p:spPr>
      </p:pic>
      <p:sp>
        <p:nvSpPr>
          <p:cNvPr id="9" name="Text 3"/>
          <p:cNvSpPr/>
          <p:nvPr/>
        </p:nvSpPr>
        <p:spPr>
          <a:xfrm>
            <a:off x="1370177" y="2777034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Subtractors in Practice</a:t>
            </a:r>
            <a:endParaRPr lang="en-US" sz="1850" dirty="0"/>
          </a:p>
        </p:txBody>
      </p:sp>
      <p:sp>
        <p:nvSpPr>
          <p:cNvPr id="10" name="Text 4"/>
          <p:cNvSpPr/>
          <p:nvPr/>
        </p:nvSpPr>
        <p:spPr>
          <a:xfrm>
            <a:off x="1370177" y="3197523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Enable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comparison, counting, and signed arithmetic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essential for control flow and data processing.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475" y="4066877"/>
            <a:ext cx="472468" cy="47248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370177" y="4066877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Cascading Stages</a:t>
            </a:r>
            <a:endParaRPr lang="en-US" sz="1850" dirty="0"/>
          </a:p>
        </p:txBody>
      </p:sp>
      <p:sp>
        <p:nvSpPr>
          <p:cNvPr id="13" name="Text 6"/>
          <p:cNvSpPr/>
          <p:nvPr/>
        </p:nvSpPr>
        <p:spPr>
          <a:xfrm>
            <a:off x="1370177" y="4487366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Multiple stages create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n-bit adders/subtractors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— the building blocks of real-world digital systems.</a:t>
            </a:r>
            <a:endParaRPr lang="en-US" sz="1450" dirty="0"/>
          </a:p>
        </p:txBody>
      </p:sp>
      <p:pic>
        <p:nvPicPr>
          <p:cNvPr id="14" name="Image 5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1475" y="5356721"/>
            <a:ext cx="472468" cy="47248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370177" y="5356721"/>
            <a:ext cx="5588158" cy="3070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850" b="1" spc="-37" kern="0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Next Steps</a:t>
            </a:r>
            <a:endParaRPr lang="en-US" sz="1850" dirty="0"/>
          </a:p>
        </p:txBody>
      </p:sp>
      <p:sp>
        <p:nvSpPr>
          <p:cNvPr id="16" name="Text 8"/>
          <p:cNvSpPr/>
          <p:nvPr/>
        </p:nvSpPr>
        <p:spPr>
          <a:xfrm>
            <a:off x="1370177" y="5777210"/>
            <a:ext cx="5588158" cy="491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Explore </a:t>
            </a:r>
            <a:pPr algn="l" indent="0" marL="0">
              <a:lnSpc>
                <a:spcPct val="108000"/>
              </a:lnSpc>
              <a:buNone/>
            </a:pPr>
            <a:r>
              <a:rPr lang="en-US" sz="1450" b="1" dirty="0">
                <a:solidFill>
                  <a:srgbClr val="EBEDF0"/>
                </a:solidFill>
                <a:latin typeface="Geist Bold" pitchFamily="34" charset="0"/>
                <a:ea typeface="Geist Bold" pitchFamily="34" charset="-122"/>
                <a:cs typeface="Geist Bold" pitchFamily="34" charset="-120"/>
              </a:rPr>
              <a:t>multipliers, dividers, and advanced arithmetic circuits</a:t>
            </a:r>
            <a:pPr algn="l" indent="0" marL="0">
              <a:lnSpc>
                <a:spcPct val="108000"/>
              </a:lnSpc>
              <a:buNone/>
            </a:pPr>
            <a:r>
              <a:rPr lang="en-US" sz="1450" dirty="0">
                <a:solidFill>
                  <a:srgbClr val="EBEDF0"/>
                </a:solidFill>
                <a:latin typeface="Geist" pitchFamily="34" charset="0"/>
                <a:ea typeface="Geist" pitchFamily="34" charset="-122"/>
                <a:cs typeface="Geist" pitchFamily="34" charset="-120"/>
              </a:rPr>
              <a:t> to extend your digital design skills.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547886"/>
            <a:ext cx="9000503" cy="5059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2026-09-11T08:45:31Z</dcterms:created>
  <dcterms:modified xsi:type="dcterms:W3CDTF">2026-09-11T08:45:31Z</dcterms:modified>
</cp:coreProperties>
</file>